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7344000" cy="7704000"/>
  <p:notesSz cx="7704000" cy="73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2000" y="0"/>
            <a:ext cx="0" cy="7704000"/>
          </a:xfrm>
          <a:prstGeom prst="line">
            <a:avLst/>
          </a:prstGeom>
          <a:noFill/>
          <a:ln w="6350">
            <a:solidFill>
              <a:srgbClr val="C9D3DB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3672000" y="0"/>
            <a:ext cx="3672000" cy="7704000"/>
          </a:xfrm>
          <a:prstGeom prst="rect">
            <a:avLst/>
          </a:prstGeom>
          <a:solidFill>
            <a:srgbClr val="0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3672000" y="6332400"/>
            <a:ext cx="3672000" cy="1371600"/>
          </a:xfrm>
          <a:prstGeom prst="rect">
            <a:avLst/>
          </a:prstGeom>
          <a:solidFill>
            <a:srgbClr val="0A2C48"/>
          </a:solidFill>
          <a:ln/>
        </p:spPr>
      </p:sp>
      <p:sp>
        <p:nvSpPr>
          <p:cNvPr id="5" name="Shape 3"/>
          <p:cNvSpPr/>
          <p:nvPr/>
        </p:nvSpPr>
        <p:spPr>
          <a:xfrm>
            <a:off x="3818304" y="5833872"/>
            <a:ext cx="310896" cy="384048"/>
          </a:xfrm>
          <a:prstGeom prst="rect">
            <a:avLst/>
          </a:prstGeom>
          <a:solidFill>
            <a:srgbClr val="1E5B86"/>
          </a:solidFill>
          <a:ln/>
        </p:spPr>
      </p:sp>
      <p:sp>
        <p:nvSpPr>
          <p:cNvPr id="6" name="Shape 4"/>
          <p:cNvSpPr/>
          <p:nvPr/>
        </p:nvSpPr>
        <p:spPr>
          <a:xfrm>
            <a:off x="4184064" y="5669280"/>
            <a:ext cx="274320" cy="548640"/>
          </a:xfrm>
          <a:prstGeom prst="rect">
            <a:avLst/>
          </a:prstGeom>
          <a:solidFill>
            <a:srgbClr val="1E5B86"/>
          </a:solidFill>
          <a:ln/>
        </p:spPr>
      </p:sp>
      <p:sp>
        <p:nvSpPr>
          <p:cNvPr id="7" name="Shape 5"/>
          <p:cNvSpPr/>
          <p:nvPr/>
        </p:nvSpPr>
        <p:spPr>
          <a:xfrm>
            <a:off x="4513248" y="5907024"/>
            <a:ext cx="237744" cy="310896"/>
          </a:xfrm>
          <a:prstGeom prst="rect">
            <a:avLst/>
          </a:prstGeom>
          <a:solidFill>
            <a:srgbClr val="1E5B86"/>
          </a:solidFill>
          <a:ln/>
        </p:spPr>
      </p:sp>
      <p:sp>
        <p:nvSpPr>
          <p:cNvPr id="8" name="Shape 6"/>
          <p:cNvSpPr/>
          <p:nvPr/>
        </p:nvSpPr>
        <p:spPr>
          <a:xfrm>
            <a:off x="4787568" y="5559552"/>
            <a:ext cx="365760" cy="658368"/>
          </a:xfrm>
          <a:prstGeom prst="rect">
            <a:avLst/>
          </a:prstGeom>
          <a:solidFill>
            <a:srgbClr val="0E9C9C"/>
          </a:solidFill>
          <a:ln/>
        </p:spPr>
      </p:sp>
      <p:sp>
        <p:nvSpPr>
          <p:cNvPr id="9" name="Shape 7"/>
          <p:cNvSpPr/>
          <p:nvPr/>
        </p:nvSpPr>
        <p:spPr>
          <a:xfrm>
            <a:off x="4926557" y="5650992"/>
            <a:ext cx="45720" cy="45720"/>
          </a:xfrm>
          <a:prstGeom prst="rect">
            <a:avLst/>
          </a:prstGeom>
          <a:solidFill>
            <a:srgbClr val="18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5208192" y="5779008"/>
            <a:ext cx="274320" cy="438912"/>
          </a:xfrm>
          <a:prstGeom prst="rect">
            <a:avLst/>
          </a:prstGeom>
          <a:solidFill>
            <a:srgbClr val="1E5B86"/>
          </a:solidFill>
          <a:ln/>
        </p:spPr>
      </p:sp>
      <p:sp>
        <p:nvSpPr>
          <p:cNvPr id="11" name="Shape 9"/>
          <p:cNvSpPr/>
          <p:nvPr/>
        </p:nvSpPr>
        <p:spPr>
          <a:xfrm>
            <a:off x="5537376" y="5623560"/>
            <a:ext cx="219456" cy="594360"/>
          </a:xfrm>
          <a:prstGeom prst="rect">
            <a:avLst/>
          </a:prstGeom>
          <a:solidFill>
            <a:srgbClr val="1E5B86"/>
          </a:solidFill>
          <a:ln/>
        </p:spPr>
      </p:sp>
      <p:sp>
        <p:nvSpPr>
          <p:cNvPr id="12" name="Shape 10"/>
          <p:cNvSpPr/>
          <p:nvPr/>
        </p:nvSpPr>
        <p:spPr>
          <a:xfrm>
            <a:off x="5620769" y="5715000"/>
            <a:ext cx="45720" cy="45720"/>
          </a:xfrm>
          <a:prstGeom prst="rect">
            <a:avLst/>
          </a:prstGeom>
          <a:solidFill>
            <a:srgbClr val="18BFBF"/>
          </a:solidFill>
          <a:ln/>
        </p:spPr>
      </p:sp>
      <p:sp>
        <p:nvSpPr>
          <p:cNvPr id="13" name="Shape 11"/>
          <p:cNvSpPr/>
          <p:nvPr/>
        </p:nvSpPr>
        <p:spPr>
          <a:xfrm>
            <a:off x="5811696" y="5852160"/>
            <a:ext cx="329184" cy="365760"/>
          </a:xfrm>
          <a:prstGeom prst="rect">
            <a:avLst/>
          </a:prstGeom>
          <a:solidFill>
            <a:srgbClr val="1E5B86"/>
          </a:solidFill>
          <a:ln/>
        </p:spPr>
      </p:sp>
      <p:sp>
        <p:nvSpPr>
          <p:cNvPr id="14" name="Shape 12"/>
          <p:cNvSpPr/>
          <p:nvPr/>
        </p:nvSpPr>
        <p:spPr>
          <a:xfrm>
            <a:off x="6195744" y="5532120"/>
            <a:ext cx="274320" cy="685800"/>
          </a:xfrm>
          <a:prstGeom prst="rect">
            <a:avLst/>
          </a:prstGeom>
          <a:solidFill>
            <a:srgbClr val="0E9C9C"/>
          </a:solidFill>
          <a:ln/>
        </p:spPr>
      </p:sp>
      <p:sp>
        <p:nvSpPr>
          <p:cNvPr id="15" name="Shape 13"/>
          <p:cNvSpPr/>
          <p:nvPr/>
        </p:nvSpPr>
        <p:spPr>
          <a:xfrm>
            <a:off x="6299986" y="5623560"/>
            <a:ext cx="45720" cy="45720"/>
          </a:xfrm>
          <a:prstGeom prst="rect">
            <a:avLst/>
          </a:prstGeom>
          <a:solidFill>
            <a:srgbClr val="18BFBF"/>
          </a:solidFill>
          <a:ln/>
        </p:spPr>
      </p:sp>
      <p:sp>
        <p:nvSpPr>
          <p:cNvPr id="16" name="Shape 14"/>
          <p:cNvSpPr/>
          <p:nvPr/>
        </p:nvSpPr>
        <p:spPr>
          <a:xfrm>
            <a:off x="6524928" y="5806440"/>
            <a:ext cx="237744" cy="411480"/>
          </a:xfrm>
          <a:prstGeom prst="rect">
            <a:avLst/>
          </a:prstGeom>
          <a:solidFill>
            <a:srgbClr val="1E5B86"/>
          </a:solidFill>
          <a:ln/>
        </p:spPr>
      </p:sp>
      <p:sp>
        <p:nvSpPr>
          <p:cNvPr id="17" name="Shape 15"/>
          <p:cNvSpPr/>
          <p:nvPr/>
        </p:nvSpPr>
        <p:spPr>
          <a:xfrm>
            <a:off x="6817536" y="5687568"/>
            <a:ext cx="310896" cy="530352"/>
          </a:xfrm>
          <a:prstGeom prst="rect">
            <a:avLst/>
          </a:prstGeom>
          <a:solidFill>
            <a:srgbClr val="1E5B86"/>
          </a:solidFill>
          <a:ln/>
        </p:spPr>
      </p:sp>
      <p:sp>
        <p:nvSpPr>
          <p:cNvPr id="18" name="Shape 16"/>
          <p:cNvSpPr/>
          <p:nvPr/>
        </p:nvSpPr>
        <p:spPr>
          <a:xfrm>
            <a:off x="3818304" y="6217920"/>
            <a:ext cx="3345696" cy="0"/>
          </a:xfrm>
          <a:prstGeom prst="line">
            <a:avLst/>
          </a:prstGeom>
          <a:noFill/>
          <a:ln w="12700">
            <a:solidFill>
              <a:srgbClr val="17517A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8304" y="512064"/>
            <a:ext cx="512064" cy="6126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476672" y="530352"/>
            <a:ext cx="268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kordy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3845736" y="1371600"/>
            <a:ext cx="334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8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ACCESS IN KOREA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845736" y="1755648"/>
            <a:ext cx="822960" cy="0"/>
          </a:xfrm>
          <a:prstGeom prst="line">
            <a:avLst/>
          </a:prstGeom>
          <a:noFill/>
          <a:ln w="19050">
            <a:solidFill>
              <a:srgbClr val="18BFB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18304" y="2148840"/>
            <a:ext cx="3345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Access to Medical Care in Korea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3818304" y="3611880"/>
            <a:ext cx="3345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F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Kordy connects international patients with leading hospitals, specialist pathways, and guided care coordination across Korea.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818304" y="4617720"/>
            <a:ext cx="3345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8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gateway to hospital access, treatment planning, and patient support in Korea.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818304" y="6656832"/>
            <a:ext cx="256032" cy="256032"/>
          </a:xfrm>
          <a:prstGeom prst="ellipse">
            <a:avLst/>
          </a:prstGeom>
          <a:solidFill>
            <a:srgbClr val="18BFBF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884" y="6725412"/>
            <a:ext cx="118872" cy="11887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147488" y="6565392"/>
            <a:ext cx="301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F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Operated by DYPHI, a registered medical tourism facilitator in Korea.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3818304" y="7178040"/>
            <a:ext cx="334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kordy.kr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180000" y="225720"/>
            <a:ext cx="3345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Kordy</a:t>
            </a:r>
            <a:endParaRPr lang="en-US" sz="2400" dirty="0"/>
          </a:p>
        </p:txBody>
      </p:sp>
      <p:sp>
        <p:nvSpPr>
          <p:cNvPr id="31" name="Shape 27"/>
          <p:cNvSpPr/>
          <p:nvPr/>
        </p:nvSpPr>
        <p:spPr>
          <a:xfrm>
            <a:off x="180000" y="682920"/>
            <a:ext cx="640080" cy="0"/>
          </a:xfrm>
          <a:prstGeom prst="line">
            <a:avLst/>
          </a:prstGeom>
          <a:noFill/>
          <a:ln w="25400">
            <a:solidFill>
              <a:srgbClr val="18BFBF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80000" y="884088"/>
            <a:ext cx="347472" cy="347472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40" y="975528"/>
            <a:ext cx="164592" cy="16459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37200" y="829224"/>
            <a:ext cx="288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hospital matching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180000" y="1341288"/>
            <a:ext cx="347472" cy="347472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40" y="1432728"/>
            <a:ext cx="164592" cy="16459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37200" y="1286424"/>
            <a:ext cx="288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&amp; medical record coordination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180000" y="1798488"/>
            <a:ext cx="347472" cy="347472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440" y="1889928"/>
            <a:ext cx="164592" cy="16459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37200" y="1743624"/>
            <a:ext cx="288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patient support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180000" y="2255688"/>
            <a:ext cx="347472" cy="347472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440" y="2347128"/>
            <a:ext cx="164592" cy="16459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37200" y="2200824"/>
            <a:ext cx="288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care journey — inquiry to follow-up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180000" y="2712888"/>
            <a:ext cx="347472" cy="347472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440" y="2804328"/>
            <a:ext cx="164592" cy="16459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637200" y="2658024"/>
            <a:ext cx="288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major hospitals &amp; specialty centers</a:t>
            </a:r>
            <a:endParaRPr lang="en-US" sz="1100" dirty="0"/>
          </a:p>
        </p:txBody>
      </p:sp>
      <p:sp>
        <p:nvSpPr>
          <p:cNvPr id="47" name="Text 38"/>
          <p:cNvSpPr/>
          <p:nvPr/>
        </p:nvSpPr>
        <p:spPr>
          <a:xfrm>
            <a:off x="180000" y="3188376"/>
            <a:ext cx="3345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many international patients, choosing the right hospital in Korea can be complex. Kordy helps simplify that process by guiding patients to appropriate institutions, treatment pathways, and next-step planning.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180000" y="4102776"/>
            <a:ext cx="3345696" cy="1572768"/>
          </a:xfrm>
          <a:prstGeom prst="roundRect">
            <a:avLst>
              <a:gd name="adj" fmla="val 4651"/>
            </a:avLst>
          </a:prstGeom>
          <a:solidFill>
            <a:srgbClr val="0E3A5F"/>
          </a:solidFill>
          <a:ln/>
        </p:spPr>
      </p:sp>
      <p:sp>
        <p:nvSpPr>
          <p:cNvPr id="49" name="Text 40"/>
          <p:cNvSpPr/>
          <p:nvPr/>
        </p:nvSpPr>
        <p:spPr>
          <a:xfrm>
            <a:off x="381168" y="4249080"/>
            <a:ext cx="192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Your Inquiry</a:t>
            </a:r>
            <a:endParaRPr lang="en-US" sz="1500" dirty="0"/>
          </a:p>
        </p:txBody>
      </p:sp>
      <p:sp>
        <p:nvSpPr>
          <p:cNvPr id="50" name="Text 41"/>
          <p:cNvSpPr/>
          <p:nvPr/>
        </p:nvSpPr>
        <p:spPr>
          <a:xfrm>
            <a:off x="381168" y="4596552"/>
            <a:ext cx="192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F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 </a:t>
            </a:r>
            <a:pPr algn="l" indent="0" marL="0">
              <a:buNone/>
            </a:pPr>
            <a:r>
              <a:rPr lang="en-US" sz="1100" b="1" dirty="0">
                <a:solidFill>
                  <a:srgbClr val="18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kordy.kr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353736" y="4907448"/>
            <a:ext cx="274320" cy="274320"/>
          </a:xfrm>
          <a:prstGeom prst="ellipse">
            <a:avLst/>
          </a:prstGeom>
          <a:solidFill>
            <a:srgbClr val="18BFBF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744" y="4971456"/>
            <a:ext cx="146304" cy="146304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673776" y="4907448"/>
            <a:ext cx="192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WhatsApp: +82 ___ ____ ____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353736" y="5245776"/>
            <a:ext cx="274320" cy="274320"/>
          </a:xfrm>
          <a:prstGeom prst="ellipse">
            <a:avLst/>
          </a:prstGeom>
          <a:solidFill>
            <a:srgbClr val="18BFBF"/>
          </a:solidFill>
          <a:ln/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744" y="5309784"/>
            <a:ext cx="146304" cy="146304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673776" y="5245776"/>
            <a:ext cx="192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hello@kordy.kr</a:t>
            </a:r>
            <a:endParaRPr lang="en-US" sz="900" dirty="0"/>
          </a:p>
        </p:txBody>
      </p:sp>
      <p:sp>
        <p:nvSpPr>
          <p:cNvPr id="57" name="Shape 46"/>
          <p:cNvSpPr/>
          <p:nvPr/>
        </p:nvSpPr>
        <p:spPr>
          <a:xfrm>
            <a:off x="2355264" y="4377096"/>
            <a:ext cx="102412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18BFBF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2464992" y="4486824"/>
            <a:ext cx="804672" cy="804672"/>
          </a:xfrm>
          <a:prstGeom prst="rect">
            <a:avLst/>
          </a:prstGeom>
          <a:solidFill>
            <a:srgbClr val="E8EEF2"/>
          </a:solidFill>
          <a:ln w="6350">
            <a:solidFill>
              <a:srgbClr val="D8E1E8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2464992" y="4486824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800" dirty="0"/>
          </a:p>
        </p:txBody>
      </p:sp>
      <p:sp>
        <p:nvSpPr>
          <p:cNvPr id="60" name="Text 49"/>
          <p:cNvSpPr/>
          <p:nvPr/>
        </p:nvSpPr>
        <p:spPr>
          <a:xfrm>
            <a:off x="180000" y="5821848"/>
            <a:ext cx="334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pathways</a:t>
            </a:r>
            <a:endParaRPr lang="en-US" sz="1050" dirty="0"/>
          </a:p>
        </p:txBody>
      </p:sp>
      <p:sp>
        <p:nvSpPr>
          <p:cNvPr id="61" name="Shape 50"/>
          <p:cNvSpPr/>
          <p:nvPr/>
        </p:nvSpPr>
        <p:spPr>
          <a:xfrm>
            <a:off x="198288" y="6178464"/>
            <a:ext cx="64008" cy="64008"/>
          </a:xfrm>
          <a:prstGeom prst="ellipse">
            <a:avLst/>
          </a:prstGeom>
          <a:solidFill>
            <a:srgbClr val="18BFBF"/>
          </a:solidFill>
          <a:ln/>
        </p:spPr>
      </p:sp>
      <p:sp>
        <p:nvSpPr>
          <p:cNvPr id="62" name="Text 51"/>
          <p:cNvSpPr/>
          <p:nvPr/>
        </p:nvSpPr>
        <p:spPr>
          <a:xfrm>
            <a:off x="326304" y="6096168"/>
            <a:ext cx="150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nextweight.kr</a:t>
            </a:r>
            <a:endParaRPr lang="en-US" sz="1000" dirty="0"/>
          </a:p>
        </p:txBody>
      </p:sp>
      <p:sp>
        <p:nvSpPr>
          <p:cNvPr id="63" name="Shape 52"/>
          <p:cNvSpPr/>
          <p:nvPr/>
        </p:nvSpPr>
        <p:spPr>
          <a:xfrm>
            <a:off x="1871136" y="6178464"/>
            <a:ext cx="64008" cy="64008"/>
          </a:xfrm>
          <a:prstGeom prst="ellipse">
            <a:avLst/>
          </a:prstGeom>
          <a:solidFill>
            <a:srgbClr val="18BFBF"/>
          </a:solidFill>
          <a:ln/>
        </p:spPr>
      </p:sp>
      <p:sp>
        <p:nvSpPr>
          <p:cNvPr id="64" name="Text 53"/>
          <p:cNvSpPr/>
          <p:nvPr/>
        </p:nvSpPr>
        <p:spPr>
          <a:xfrm>
            <a:off x="1999152" y="6096168"/>
            <a:ext cx="150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mensform.kr</a:t>
            </a:r>
            <a:endParaRPr lang="en-US" sz="1000" dirty="0"/>
          </a:p>
        </p:txBody>
      </p:sp>
      <p:sp>
        <p:nvSpPr>
          <p:cNvPr id="65" name="Shape 54"/>
          <p:cNvSpPr/>
          <p:nvPr/>
        </p:nvSpPr>
        <p:spPr>
          <a:xfrm>
            <a:off x="198288" y="6471072"/>
            <a:ext cx="64008" cy="64008"/>
          </a:xfrm>
          <a:prstGeom prst="ellipse">
            <a:avLst/>
          </a:prstGeom>
          <a:solidFill>
            <a:srgbClr val="18BFBF"/>
          </a:solidFill>
          <a:ln/>
        </p:spPr>
      </p:sp>
      <p:sp>
        <p:nvSpPr>
          <p:cNvPr id="66" name="Text 55"/>
          <p:cNvSpPr/>
          <p:nvPr/>
        </p:nvSpPr>
        <p:spPr>
          <a:xfrm>
            <a:off x="326304" y="6388776"/>
            <a:ext cx="150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longevityseoul.kr</a:t>
            </a:r>
            <a:endParaRPr lang="en-US" sz="1000" dirty="0"/>
          </a:p>
        </p:txBody>
      </p:sp>
      <p:sp>
        <p:nvSpPr>
          <p:cNvPr id="67" name="Shape 56"/>
          <p:cNvSpPr/>
          <p:nvPr/>
        </p:nvSpPr>
        <p:spPr>
          <a:xfrm>
            <a:off x="1871136" y="6471072"/>
            <a:ext cx="64008" cy="64008"/>
          </a:xfrm>
          <a:prstGeom prst="ellipse">
            <a:avLst/>
          </a:prstGeom>
          <a:solidFill>
            <a:srgbClr val="18BFBF"/>
          </a:solidFill>
          <a:ln/>
        </p:spPr>
      </p:sp>
      <p:sp>
        <p:nvSpPr>
          <p:cNvPr id="68" name="Text 57"/>
          <p:cNvSpPr/>
          <p:nvPr/>
        </p:nvSpPr>
        <p:spPr>
          <a:xfrm>
            <a:off x="1999152" y="6388776"/>
            <a:ext cx="150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regenvalue.com</a:t>
            </a:r>
            <a:endParaRPr lang="en-US" sz="1000" dirty="0"/>
          </a:p>
        </p:txBody>
      </p:sp>
      <p:sp>
        <p:nvSpPr>
          <p:cNvPr id="69" name="Shape 58"/>
          <p:cNvSpPr/>
          <p:nvPr/>
        </p:nvSpPr>
        <p:spPr>
          <a:xfrm>
            <a:off x="180000" y="6754536"/>
            <a:ext cx="3345696" cy="0"/>
          </a:xfrm>
          <a:prstGeom prst="line">
            <a:avLst/>
          </a:prstGeom>
          <a:noFill/>
          <a:ln w="9525">
            <a:solidFill>
              <a:srgbClr val="D8E1E8"/>
            </a:solidFill>
            <a:prstDash val="solid"/>
          </a:ln>
        </p:spPr>
      </p:sp>
      <p:sp>
        <p:nvSpPr>
          <p:cNvPr id="70" name="Text 59"/>
          <p:cNvSpPr/>
          <p:nvPr/>
        </p:nvSpPr>
        <p:spPr>
          <a:xfrm>
            <a:off x="180000" y="6827688"/>
            <a:ext cx="3345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Kordy is a patient guidance platform designed to help international patients explore appropriate care options in Korea.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2000" y="0"/>
            <a:ext cx="0" cy="7704000"/>
          </a:xfrm>
          <a:prstGeom prst="line">
            <a:avLst/>
          </a:prstGeom>
          <a:noFill/>
          <a:ln w="6350">
            <a:solidFill>
              <a:srgbClr val="C9D3DB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80000" y="225720"/>
            <a:ext cx="3345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to Korea's Leading Hospitals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0000" y="975528"/>
            <a:ext cx="640080" cy="0"/>
          </a:xfrm>
          <a:prstGeom prst="line">
            <a:avLst/>
          </a:prstGeom>
          <a:noFill/>
          <a:ln w="25400">
            <a:solidFill>
              <a:srgbClr val="18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0000" y="1103544"/>
            <a:ext cx="3345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Kordy helps patients navigate major tertiary hospitals and selected specialty centers based on diagnosis, treatment goals, and care needs.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80000" y="1725336"/>
            <a:ext cx="334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HOSPITAL ACCESS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0000" y="1999656"/>
            <a:ext cx="3345696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6350">
            <a:solidFill>
              <a:srgbClr val="D8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016" y="2127672"/>
            <a:ext cx="310896" cy="310896"/>
          </a:xfrm>
          <a:prstGeom prst="ellipse">
            <a:avLst/>
          </a:prstGeom>
          <a:solidFill>
            <a:srgbClr val="0E3A5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884" y="2214540"/>
            <a:ext cx="137160" cy="137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2064" y="2072808"/>
            <a:ext cx="274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 National University Hospital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92064" y="2301408"/>
            <a:ext cx="274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national university hospital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80000" y="2648880"/>
            <a:ext cx="3345696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6350">
            <a:solidFill>
              <a:srgbClr val="D8E1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8016" y="2776896"/>
            <a:ext cx="310896" cy="310896"/>
          </a:xfrm>
          <a:prstGeom prst="ellipse">
            <a:avLst/>
          </a:prstGeom>
          <a:solidFill>
            <a:srgbClr val="0E3A5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84" y="2863764"/>
            <a:ext cx="137160" cy="1371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2064" y="2722032"/>
            <a:ext cx="274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 Medical Center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92064" y="2950632"/>
            <a:ext cx="274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Korea's largest medical centers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180000" y="3298104"/>
            <a:ext cx="3345696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6350">
            <a:solidFill>
              <a:srgbClr val="D8E1E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08016" y="3426120"/>
            <a:ext cx="310896" cy="310896"/>
          </a:xfrm>
          <a:prstGeom prst="ellipse">
            <a:avLst/>
          </a:prstGeom>
          <a:solidFill>
            <a:srgbClr val="0E3A5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84" y="3512988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2064" y="3371256"/>
            <a:ext cx="274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Medical Center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92064" y="3599856"/>
            <a:ext cx="274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university-affiliated tertiary hospital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180000" y="3947328"/>
            <a:ext cx="3345696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6350">
            <a:solidFill>
              <a:srgbClr val="D8E1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08016" y="4075344"/>
            <a:ext cx="310896" cy="310896"/>
          </a:xfrm>
          <a:prstGeom prst="ellipse">
            <a:avLst/>
          </a:prstGeom>
          <a:solidFill>
            <a:srgbClr val="0E3A5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884" y="4162212"/>
            <a:ext cx="137160" cy="1371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2064" y="4020480"/>
            <a:ext cx="274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Severance Hospital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92064" y="4249080"/>
            <a:ext cx="274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 leading teaching hospital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180000" y="4596552"/>
            <a:ext cx="3345696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6350">
            <a:solidFill>
              <a:srgbClr val="D8E1E8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08016" y="4724568"/>
            <a:ext cx="310896" cy="310896"/>
          </a:xfrm>
          <a:prstGeom prst="ellipse">
            <a:avLst/>
          </a:prstGeom>
          <a:solidFill>
            <a:srgbClr val="0E3A5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84" y="4811436"/>
            <a:ext cx="137160" cy="1371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92064" y="4669704"/>
            <a:ext cx="274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 St. Mary's Hospital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92064" y="4898304"/>
            <a:ext cx="274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Catholic university hospital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180000" y="5264064"/>
            <a:ext cx="3345696" cy="566928"/>
          </a:xfrm>
          <a:prstGeom prst="roundRect">
            <a:avLst>
              <a:gd name="adj" fmla="val 8065"/>
            </a:avLst>
          </a:prstGeom>
          <a:solidFill>
            <a:srgbClr val="E9F7F7"/>
          </a:solidFill>
          <a:ln w="9525">
            <a:solidFill>
              <a:srgbClr val="18BFBF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308016" y="5392080"/>
            <a:ext cx="310896" cy="310896"/>
          </a:xfrm>
          <a:prstGeom prst="ellipse">
            <a:avLst/>
          </a:prstGeom>
          <a:solidFill>
            <a:srgbClr val="0E9C9C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884" y="5478948"/>
            <a:ext cx="137160" cy="1371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92064" y="5328072"/>
            <a:ext cx="274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Ewha Womans University Seoul Hospital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692064" y="5556672"/>
            <a:ext cx="274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tertiary hospital in western Seoul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180000" y="5913288"/>
            <a:ext cx="3345696" cy="566928"/>
          </a:xfrm>
          <a:prstGeom prst="roundRect">
            <a:avLst>
              <a:gd name="adj" fmla="val 8065"/>
            </a:avLst>
          </a:prstGeom>
          <a:solidFill>
            <a:srgbClr val="E9F7F7"/>
          </a:solidFill>
          <a:ln w="9525">
            <a:solidFill>
              <a:srgbClr val="18BFB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308016" y="6041304"/>
            <a:ext cx="310896" cy="310896"/>
          </a:xfrm>
          <a:prstGeom prst="ellipse">
            <a:avLst/>
          </a:prstGeom>
          <a:solidFill>
            <a:srgbClr val="0E9C9C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884" y="6128172"/>
            <a:ext cx="137160" cy="1371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92064" y="5977296"/>
            <a:ext cx="274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Incheon Sejong Hospital</a:t>
            </a:r>
            <a:endParaRPr lang="en-US" sz="950" dirty="0"/>
          </a:p>
        </p:txBody>
      </p:sp>
      <p:sp>
        <p:nvSpPr>
          <p:cNvPr id="41" name="Text 32"/>
          <p:cNvSpPr/>
          <p:nvPr/>
        </p:nvSpPr>
        <p:spPr>
          <a:xfrm>
            <a:off x="692064" y="6205896"/>
            <a:ext cx="274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&amp; bariatric / metabolic care pathways</a:t>
            </a:r>
            <a:endParaRPr lang="en-US" sz="800" dirty="0"/>
          </a:p>
        </p:txBody>
      </p:sp>
      <p:sp>
        <p:nvSpPr>
          <p:cNvPr id="42" name="Text 33"/>
          <p:cNvSpPr/>
          <p:nvPr/>
        </p:nvSpPr>
        <p:spPr>
          <a:xfrm>
            <a:off x="180000" y="6599088"/>
            <a:ext cx="3345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i="1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institutions are shown for informational purposes. Final hospital recommendation depends on each patient's medical needs and consultation pathway.</a:t>
            </a:r>
            <a:endParaRPr lang="en-US" sz="750" dirty="0"/>
          </a:p>
        </p:txBody>
      </p:sp>
      <p:sp>
        <p:nvSpPr>
          <p:cNvPr id="43" name="Text 34"/>
          <p:cNvSpPr/>
          <p:nvPr/>
        </p:nvSpPr>
        <p:spPr>
          <a:xfrm>
            <a:off x="3818304" y="225720"/>
            <a:ext cx="3345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Specialized Care Pathways</a:t>
            </a:r>
            <a:endParaRPr lang="en-US" sz="2000" dirty="0"/>
          </a:p>
        </p:txBody>
      </p:sp>
      <p:sp>
        <p:nvSpPr>
          <p:cNvPr id="44" name="Shape 35"/>
          <p:cNvSpPr/>
          <p:nvPr/>
        </p:nvSpPr>
        <p:spPr>
          <a:xfrm>
            <a:off x="3818304" y="682920"/>
            <a:ext cx="640080" cy="0"/>
          </a:xfrm>
          <a:prstGeom prst="line">
            <a:avLst/>
          </a:prstGeom>
          <a:noFill/>
          <a:ln w="25400">
            <a:solidFill>
              <a:srgbClr val="18BFBF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3818304" y="801792"/>
            <a:ext cx="334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Kordy connects patients to focused information and care pathways through dedicated websites.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3818304" y="1222416"/>
            <a:ext cx="3345696" cy="8229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6350">
            <a:solidFill>
              <a:srgbClr val="D8E1E8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3918888" y="1441872"/>
            <a:ext cx="384048" cy="384048"/>
          </a:xfrm>
          <a:prstGeom prst="ellipse">
            <a:avLst/>
          </a:prstGeom>
          <a:solidFill>
            <a:srgbClr val="18BFBF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4044" y="1547028"/>
            <a:ext cx="173736" cy="173736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4385232" y="1277280"/>
            <a:ext cx="270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NextWeight</a:t>
            </a:r>
            <a:endParaRPr lang="en-US" sz="1100" dirty="0"/>
          </a:p>
        </p:txBody>
      </p:sp>
      <p:sp>
        <p:nvSpPr>
          <p:cNvPr id="50" name="Text 40"/>
          <p:cNvSpPr/>
          <p:nvPr/>
        </p:nvSpPr>
        <p:spPr>
          <a:xfrm>
            <a:off x="4385232" y="1469304"/>
            <a:ext cx="270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&amp; metabolic care</a:t>
            </a:r>
            <a:endParaRPr lang="en-US" sz="800" dirty="0"/>
          </a:p>
        </p:txBody>
      </p:sp>
      <p:sp>
        <p:nvSpPr>
          <p:cNvPr id="51" name="Text 41"/>
          <p:cNvSpPr/>
          <p:nvPr/>
        </p:nvSpPr>
        <p:spPr>
          <a:xfrm>
            <a:off x="4385232" y="1633896"/>
            <a:ext cx="270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guidance for obesity treatment, bariatric surgery, and metabolic care.</a:t>
            </a:r>
            <a:endParaRPr lang="en-US" sz="750" dirty="0"/>
          </a:p>
        </p:txBody>
      </p:sp>
      <p:sp>
        <p:nvSpPr>
          <p:cNvPr id="52" name="Text 42"/>
          <p:cNvSpPr/>
          <p:nvPr/>
        </p:nvSpPr>
        <p:spPr>
          <a:xfrm>
            <a:off x="4385232" y="1862496"/>
            <a:ext cx="270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nextweight.kr</a:t>
            </a:r>
            <a:endParaRPr lang="en-US" sz="850" dirty="0"/>
          </a:p>
        </p:txBody>
      </p:sp>
      <p:sp>
        <p:nvSpPr>
          <p:cNvPr id="53" name="Shape 43"/>
          <p:cNvSpPr/>
          <p:nvPr/>
        </p:nvSpPr>
        <p:spPr>
          <a:xfrm>
            <a:off x="3818304" y="2100240"/>
            <a:ext cx="3345696" cy="8229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6350">
            <a:solidFill>
              <a:srgbClr val="D8E1E8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3918888" y="2319696"/>
            <a:ext cx="384048" cy="384048"/>
          </a:xfrm>
          <a:prstGeom prst="ellipse">
            <a:avLst/>
          </a:prstGeom>
          <a:solidFill>
            <a:srgbClr val="18BFBF"/>
          </a:solidFill>
          <a:ln/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4044" y="2424852"/>
            <a:ext cx="173736" cy="173736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4385232" y="2155104"/>
            <a:ext cx="270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Form</a:t>
            </a:r>
            <a:endParaRPr lang="en-US" sz="1100" dirty="0"/>
          </a:p>
        </p:txBody>
      </p:sp>
      <p:sp>
        <p:nvSpPr>
          <p:cNvPr id="57" name="Text 46"/>
          <p:cNvSpPr/>
          <p:nvPr/>
        </p:nvSpPr>
        <p:spPr>
          <a:xfrm>
            <a:off x="4385232" y="2347128"/>
            <a:ext cx="270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health &amp; procedures</a:t>
            </a:r>
            <a:endParaRPr lang="en-US" sz="800" dirty="0"/>
          </a:p>
        </p:txBody>
      </p:sp>
      <p:sp>
        <p:nvSpPr>
          <p:cNvPr id="58" name="Text 47"/>
          <p:cNvSpPr/>
          <p:nvPr/>
        </p:nvSpPr>
        <p:spPr>
          <a:xfrm>
            <a:off x="4385232" y="2511720"/>
            <a:ext cx="270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guidance for urology, personal procedures, and related consultation.</a:t>
            </a:r>
            <a:endParaRPr lang="en-US" sz="750" dirty="0"/>
          </a:p>
        </p:txBody>
      </p:sp>
      <p:sp>
        <p:nvSpPr>
          <p:cNvPr id="59" name="Text 48"/>
          <p:cNvSpPr/>
          <p:nvPr/>
        </p:nvSpPr>
        <p:spPr>
          <a:xfrm>
            <a:off x="4385232" y="2740320"/>
            <a:ext cx="270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mensform.kr</a:t>
            </a:r>
            <a:endParaRPr lang="en-US" sz="850" dirty="0"/>
          </a:p>
        </p:txBody>
      </p:sp>
      <p:sp>
        <p:nvSpPr>
          <p:cNvPr id="60" name="Shape 49"/>
          <p:cNvSpPr/>
          <p:nvPr/>
        </p:nvSpPr>
        <p:spPr>
          <a:xfrm>
            <a:off x="3818304" y="2978064"/>
            <a:ext cx="3345696" cy="8229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6350">
            <a:solidFill>
              <a:srgbClr val="D8E1E8"/>
            </a:solidFill>
            <a:prstDash val="solid"/>
          </a:ln>
        </p:spPr>
      </p:sp>
      <p:sp>
        <p:nvSpPr>
          <p:cNvPr id="61" name="Shape 50"/>
          <p:cNvSpPr/>
          <p:nvPr/>
        </p:nvSpPr>
        <p:spPr>
          <a:xfrm>
            <a:off x="3918888" y="3197520"/>
            <a:ext cx="384048" cy="384048"/>
          </a:xfrm>
          <a:prstGeom prst="ellipse">
            <a:avLst/>
          </a:prstGeom>
          <a:solidFill>
            <a:srgbClr val="18BFBF"/>
          </a:solidFill>
          <a:ln/>
        </p:spPr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24044" y="3302676"/>
            <a:ext cx="173736" cy="173736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4385232" y="3032928"/>
            <a:ext cx="270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 Seoul</a:t>
            </a:r>
            <a:endParaRPr lang="en-US" sz="1100" dirty="0"/>
          </a:p>
        </p:txBody>
      </p:sp>
      <p:sp>
        <p:nvSpPr>
          <p:cNvPr id="64" name="Text 52"/>
          <p:cNvSpPr/>
          <p:nvPr/>
        </p:nvSpPr>
        <p:spPr>
          <a:xfrm>
            <a:off x="4385232" y="3224952"/>
            <a:ext cx="270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Dermatology, aesthetics &amp; healthy ageing</a:t>
            </a:r>
            <a:endParaRPr lang="en-US" sz="800" dirty="0"/>
          </a:p>
        </p:txBody>
      </p:sp>
      <p:sp>
        <p:nvSpPr>
          <p:cNvPr id="65" name="Text 53"/>
          <p:cNvSpPr/>
          <p:nvPr/>
        </p:nvSpPr>
        <p:spPr>
          <a:xfrm>
            <a:off x="4385232" y="3389544"/>
            <a:ext cx="270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access to skin, aesthetic, and healthy ageing pathways in Korea.</a:t>
            </a:r>
            <a:endParaRPr lang="en-US" sz="750" dirty="0"/>
          </a:p>
        </p:txBody>
      </p:sp>
      <p:sp>
        <p:nvSpPr>
          <p:cNvPr id="66" name="Text 54"/>
          <p:cNvSpPr/>
          <p:nvPr/>
        </p:nvSpPr>
        <p:spPr>
          <a:xfrm>
            <a:off x="4385232" y="3618144"/>
            <a:ext cx="270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longevityseoul.kr</a:t>
            </a:r>
            <a:endParaRPr lang="en-US" sz="850" dirty="0"/>
          </a:p>
        </p:txBody>
      </p:sp>
      <p:sp>
        <p:nvSpPr>
          <p:cNvPr id="67" name="Shape 55"/>
          <p:cNvSpPr/>
          <p:nvPr/>
        </p:nvSpPr>
        <p:spPr>
          <a:xfrm>
            <a:off x="3818304" y="3855888"/>
            <a:ext cx="3345696" cy="8229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6350">
            <a:solidFill>
              <a:srgbClr val="D8E1E8"/>
            </a:solidFill>
            <a:prstDash val="solid"/>
          </a:ln>
        </p:spPr>
      </p:sp>
      <p:sp>
        <p:nvSpPr>
          <p:cNvPr id="68" name="Shape 56"/>
          <p:cNvSpPr/>
          <p:nvPr/>
        </p:nvSpPr>
        <p:spPr>
          <a:xfrm>
            <a:off x="3918888" y="4075344"/>
            <a:ext cx="384048" cy="384048"/>
          </a:xfrm>
          <a:prstGeom prst="ellipse">
            <a:avLst/>
          </a:prstGeom>
          <a:solidFill>
            <a:srgbClr val="18BFBF"/>
          </a:solidFill>
          <a:ln/>
        </p:spPr>
      </p:sp>
      <p:pic>
        <p:nvPicPr>
          <p:cNvPr id="6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24044" y="4180500"/>
            <a:ext cx="173736" cy="173736"/>
          </a:xfrm>
          <a:prstGeom prst="rect">
            <a:avLst/>
          </a:prstGeom>
        </p:spPr>
      </p:pic>
      <p:sp>
        <p:nvSpPr>
          <p:cNvPr id="70" name="Text 57"/>
          <p:cNvSpPr/>
          <p:nvPr/>
        </p:nvSpPr>
        <p:spPr>
          <a:xfrm>
            <a:off x="4385232" y="3910752"/>
            <a:ext cx="270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RegenValue</a:t>
            </a:r>
            <a:endParaRPr lang="en-US" sz="1100" dirty="0"/>
          </a:p>
        </p:txBody>
      </p:sp>
      <p:sp>
        <p:nvSpPr>
          <p:cNvPr id="71" name="Text 58"/>
          <p:cNvSpPr/>
          <p:nvPr/>
        </p:nvSpPr>
        <p:spPr>
          <a:xfrm>
            <a:off x="4385232" y="4102776"/>
            <a:ext cx="270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medicine</a:t>
            </a:r>
            <a:endParaRPr lang="en-US" sz="800" dirty="0"/>
          </a:p>
        </p:txBody>
      </p:sp>
      <p:sp>
        <p:nvSpPr>
          <p:cNvPr id="72" name="Text 59"/>
          <p:cNvSpPr/>
          <p:nvPr/>
        </p:nvSpPr>
        <p:spPr>
          <a:xfrm>
            <a:off x="4385232" y="4267368"/>
            <a:ext cx="270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for exploring regenerative medicine information and guided inquiry.</a:t>
            </a:r>
            <a:endParaRPr lang="en-US" sz="750" dirty="0"/>
          </a:p>
        </p:txBody>
      </p:sp>
      <p:sp>
        <p:nvSpPr>
          <p:cNvPr id="73" name="Text 60"/>
          <p:cNvSpPr/>
          <p:nvPr/>
        </p:nvSpPr>
        <p:spPr>
          <a:xfrm>
            <a:off x="4385232" y="4495968"/>
            <a:ext cx="270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regenvalue.com</a:t>
            </a:r>
            <a:endParaRPr lang="en-US" sz="850" dirty="0"/>
          </a:p>
        </p:txBody>
      </p:sp>
      <p:sp>
        <p:nvSpPr>
          <p:cNvPr id="74" name="Text 61"/>
          <p:cNvSpPr/>
          <p:nvPr/>
        </p:nvSpPr>
        <p:spPr>
          <a:xfrm>
            <a:off x="3818304" y="4788576"/>
            <a:ext cx="334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Kordy Works</a:t>
            </a:r>
            <a:endParaRPr lang="en-US" sz="1400" dirty="0"/>
          </a:p>
        </p:txBody>
      </p:sp>
      <p:sp>
        <p:nvSpPr>
          <p:cNvPr id="75" name="Shape 62"/>
          <p:cNvSpPr/>
          <p:nvPr/>
        </p:nvSpPr>
        <p:spPr>
          <a:xfrm>
            <a:off x="3955464" y="5396652"/>
            <a:ext cx="0" cy="338328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76" name="Shape 63"/>
          <p:cNvSpPr/>
          <p:nvPr/>
        </p:nvSpPr>
        <p:spPr>
          <a:xfrm>
            <a:off x="3832020" y="5154336"/>
            <a:ext cx="246888" cy="246888"/>
          </a:xfrm>
          <a:prstGeom prst="ellipse">
            <a:avLst/>
          </a:prstGeom>
          <a:solidFill>
            <a:srgbClr val="0E3A5F"/>
          </a:solidFill>
          <a:ln/>
        </p:spPr>
      </p:sp>
      <p:sp>
        <p:nvSpPr>
          <p:cNvPr id="77" name="Text 64"/>
          <p:cNvSpPr/>
          <p:nvPr/>
        </p:nvSpPr>
        <p:spPr>
          <a:xfrm>
            <a:off x="3832020" y="51543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8" name="Text 65"/>
          <p:cNvSpPr/>
          <p:nvPr/>
        </p:nvSpPr>
        <p:spPr>
          <a:xfrm>
            <a:off x="4184064" y="5108616"/>
            <a:ext cx="2979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inquiry  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goals, symptoms, or treatment interest.</a:t>
            </a:r>
            <a:endParaRPr lang="en-US" sz="900" dirty="0"/>
          </a:p>
        </p:txBody>
      </p:sp>
      <p:sp>
        <p:nvSpPr>
          <p:cNvPr id="79" name="Shape 66"/>
          <p:cNvSpPr/>
          <p:nvPr/>
        </p:nvSpPr>
        <p:spPr>
          <a:xfrm>
            <a:off x="3955464" y="5734980"/>
            <a:ext cx="0" cy="338328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80" name="Shape 67"/>
          <p:cNvSpPr/>
          <p:nvPr/>
        </p:nvSpPr>
        <p:spPr>
          <a:xfrm>
            <a:off x="3832020" y="5492664"/>
            <a:ext cx="246888" cy="246888"/>
          </a:xfrm>
          <a:prstGeom prst="ellipse">
            <a:avLst/>
          </a:prstGeom>
          <a:solidFill>
            <a:srgbClr val="0E3A5F"/>
          </a:solidFill>
          <a:ln/>
        </p:spPr>
      </p:sp>
      <p:sp>
        <p:nvSpPr>
          <p:cNvPr id="81" name="Text 68"/>
          <p:cNvSpPr/>
          <p:nvPr/>
        </p:nvSpPr>
        <p:spPr>
          <a:xfrm>
            <a:off x="3832020" y="54926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2" name="Text 69"/>
          <p:cNvSpPr/>
          <p:nvPr/>
        </p:nvSpPr>
        <p:spPr>
          <a:xfrm>
            <a:off x="4184064" y="5446944"/>
            <a:ext cx="2979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information review  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review available records and care needs.</a:t>
            </a:r>
            <a:endParaRPr lang="en-US" sz="900" dirty="0"/>
          </a:p>
        </p:txBody>
      </p:sp>
      <p:sp>
        <p:nvSpPr>
          <p:cNvPr id="83" name="Shape 70"/>
          <p:cNvSpPr/>
          <p:nvPr/>
        </p:nvSpPr>
        <p:spPr>
          <a:xfrm>
            <a:off x="3955464" y="6073308"/>
            <a:ext cx="0" cy="338328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84" name="Shape 71"/>
          <p:cNvSpPr/>
          <p:nvPr/>
        </p:nvSpPr>
        <p:spPr>
          <a:xfrm>
            <a:off x="3832020" y="5830992"/>
            <a:ext cx="246888" cy="246888"/>
          </a:xfrm>
          <a:prstGeom prst="ellipse">
            <a:avLst/>
          </a:prstGeom>
          <a:solidFill>
            <a:srgbClr val="0E3A5F"/>
          </a:solidFill>
          <a:ln/>
        </p:spPr>
      </p:sp>
      <p:sp>
        <p:nvSpPr>
          <p:cNvPr id="85" name="Text 72"/>
          <p:cNvSpPr/>
          <p:nvPr/>
        </p:nvSpPr>
        <p:spPr>
          <a:xfrm>
            <a:off x="3832020" y="58309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6" name="Text 73"/>
          <p:cNvSpPr/>
          <p:nvPr/>
        </p:nvSpPr>
        <p:spPr>
          <a:xfrm>
            <a:off x="4184064" y="5785272"/>
            <a:ext cx="2979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matching  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hospitals or clinics are suggested.</a:t>
            </a:r>
            <a:endParaRPr lang="en-US" sz="900" dirty="0"/>
          </a:p>
        </p:txBody>
      </p:sp>
      <p:sp>
        <p:nvSpPr>
          <p:cNvPr id="87" name="Shape 74"/>
          <p:cNvSpPr/>
          <p:nvPr/>
        </p:nvSpPr>
        <p:spPr>
          <a:xfrm>
            <a:off x="3955464" y="6411636"/>
            <a:ext cx="0" cy="338328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88" name="Shape 75"/>
          <p:cNvSpPr/>
          <p:nvPr/>
        </p:nvSpPr>
        <p:spPr>
          <a:xfrm>
            <a:off x="3832020" y="6169320"/>
            <a:ext cx="246888" cy="246888"/>
          </a:xfrm>
          <a:prstGeom prst="ellipse">
            <a:avLst/>
          </a:prstGeom>
          <a:solidFill>
            <a:srgbClr val="0E3A5F"/>
          </a:solidFill>
          <a:ln/>
        </p:spPr>
      </p:sp>
      <p:sp>
        <p:nvSpPr>
          <p:cNvPr id="89" name="Text 76"/>
          <p:cNvSpPr/>
          <p:nvPr/>
        </p:nvSpPr>
        <p:spPr>
          <a:xfrm>
            <a:off x="3832020" y="61693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0" name="Text 77"/>
          <p:cNvSpPr/>
          <p:nvPr/>
        </p:nvSpPr>
        <p:spPr>
          <a:xfrm>
            <a:off x="4184064" y="6123600"/>
            <a:ext cx="2979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planning  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document support, and preparation.</a:t>
            </a:r>
            <a:endParaRPr lang="en-US" sz="900" dirty="0"/>
          </a:p>
        </p:txBody>
      </p:sp>
      <p:sp>
        <p:nvSpPr>
          <p:cNvPr id="91" name="Shape 78"/>
          <p:cNvSpPr/>
          <p:nvPr/>
        </p:nvSpPr>
        <p:spPr>
          <a:xfrm>
            <a:off x="3955464" y="6749964"/>
            <a:ext cx="0" cy="338328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92" name="Shape 79"/>
          <p:cNvSpPr/>
          <p:nvPr/>
        </p:nvSpPr>
        <p:spPr>
          <a:xfrm>
            <a:off x="3832020" y="6507648"/>
            <a:ext cx="246888" cy="246888"/>
          </a:xfrm>
          <a:prstGeom prst="ellipse">
            <a:avLst/>
          </a:prstGeom>
          <a:solidFill>
            <a:srgbClr val="0E3A5F"/>
          </a:solidFill>
          <a:ln/>
        </p:spPr>
      </p:sp>
      <p:sp>
        <p:nvSpPr>
          <p:cNvPr id="93" name="Text 80"/>
          <p:cNvSpPr/>
          <p:nvPr/>
        </p:nvSpPr>
        <p:spPr>
          <a:xfrm>
            <a:off x="3832020" y="65076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4" name="Text 81"/>
          <p:cNvSpPr/>
          <p:nvPr/>
        </p:nvSpPr>
        <p:spPr>
          <a:xfrm>
            <a:off x="4184064" y="6461928"/>
            <a:ext cx="2979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in Korea  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access to your selected medical pathway.</a:t>
            </a:r>
            <a:endParaRPr lang="en-US" sz="900" dirty="0"/>
          </a:p>
        </p:txBody>
      </p:sp>
      <p:sp>
        <p:nvSpPr>
          <p:cNvPr id="95" name="Shape 82"/>
          <p:cNvSpPr/>
          <p:nvPr/>
        </p:nvSpPr>
        <p:spPr>
          <a:xfrm>
            <a:off x="3832020" y="6845976"/>
            <a:ext cx="246888" cy="246888"/>
          </a:xfrm>
          <a:prstGeom prst="ellipse">
            <a:avLst/>
          </a:prstGeom>
          <a:solidFill>
            <a:srgbClr val="0E3A5F"/>
          </a:solidFill>
          <a:ln/>
        </p:spPr>
      </p:sp>
      <p:sp>
        <p:nvSpPr>
          <p:cNvPr id="96" name="Text 83"/>
          <p:cNvSpPr/>
          <p:nvPr/>
        </p:nvSpPr>
        <p:spPr>
          <a:xfrm>
            <a:off x="3832020" y="68459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7" name="Text 84"/>
          <p:cNvSpPr/>
          <p:nvPr/>
        </p:nvSpPr>
        <p:spPr>
          <a:xfrm>
            <a:off x="4184064" y="6800256"/>
            <a:ext cx="2979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support  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Post-visit communication and next-step guidance.</a:t>
            </a:r>
            <a:endParaRPr lang="en-US" sz="900" dirty="0"/>
          </a:p>
        </p:txBody>
      </p:sp>
      <p:sp>
        <p:nvSpPr>
          <p:cNvPr id="98" name="Text 85"/>
          <p:cNvSpPr/>
          <p:nvPr/>
        </p:nvSpPr>
        <p:spPr>
          <a:xfrm>
            <a:off x="3818304" y="7166016"/>
            <a:ext cx="334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i="1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hospital and treatment pathway depend on individual medical needs and provider review.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44000" cy="1051560"/>
          </a:xfrm>
          <a:prstGeom prst="rect">
            <a:avLst/>
          </a:prstGeom>
          <a:solidFill>
            <a:srgbClr val="0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80000" y="274320"/>
            <a:ext cx="698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Kordy</a:t>
            </a:r>
            <a:pPr algn="l" indent="0" marL="0">
              <a:buNone/>
            </a:pPr>
            <a:r>
              <a:rPr lang="en-US" sz="2000" b="1" dirty="0">
                <a:solidFill>
                  <a:srgbClr val="18B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Brochure Style &amp; Edit Guide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0000" y="749808"/>
            <a:ext cx="698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AF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page — not part of the printed fold. Delete before export to print.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000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palette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0000" y="1655064"/>
            <a:ext cx="502920" cy="502920"/>
          </a:xfrm>
          <a:prstGeom prst="roundRect">
            <a:avLst>
              <a:gd name="adj" fmla="val 7273"/>
            </a:avLst>
          </a:prstGeom>
          <a:solidFill>
            <a:srgbClr val="0E3A5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6928" y="163677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
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#0E3A5F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51600" y="1655064"/>
            <a:ext cx="502920" cy="502920"/>
          </a:xfrm>
          <a:prstGeom prst="roundRect">
            <a:avLst>
              <a:gd name="adj" fmla="val 7273"/>
            </a:avLst>
          </a:prstGeom>
          <a:solidFill>
            <a:srgbClr val="18BFB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18528" y="163677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
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#18BFBF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3200" y="1655064"/>
            <a:ext cx="502920" cy="50292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0128" y="163677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gray
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#F1F5F9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4800" y="1655064"/>
            <a:ext cx="502920" cy="502920"/>
          </a:xfrm>
          <a:prstGeom prst="roundRect">
            <a:avLst>
              <a:gd name="adj" fmla="val 7273"/>
            </a:avLst>
          </a:prstGeom>
          <a:solidFill>
            <a:srgbClr val="D8E1E8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1728" y="163677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
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#D8E1E8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6400" y="1655064"/>
            <a:ext cx="5029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3328" y="163677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
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0000" y="2432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0000" y="2761488"/>
            <a:ext cx="698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Cambria — clean professional serif (swap for Georgia / a brand serif).
</a:t>
            </a:r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6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— modern sans-serif (swap for Arial / a brand sans).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0000" y="3419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notes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8288" y="3813048"/>
            <a:ext cx="73152" cy="73152"/>
          </a:xfrm>
          <a:prstGeom prst="ellipse">
            <a:avLst/>
          </a:prstGeom>
          <a:solidFill>
            <a:srgbClr val="18BFBF"/>
          </a:solidFill>
          <a:ln/>
        </p:spPr>
      </p:sp>
      <p:sp>
        <p:nvSpPr>
          <p:cNvPr id="20" name="Text 18"/>
          <p:cNvSpPr/>
          <p:nvPr/>
        </p:nvSpPr>
        <p:spPr>
          <a:xfrm>
            <a:off x="381168" y="3749040"/>
            <a:ext cx="6782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titles, body copy, hospital names, descriptions, URLs and contact lines are live text — edit directly.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8288" y="4270248"/>
            <a:ext cx="73152" cy="73152"/>
          </a:xfrm>
          <a:prstGeom prst="ellipse">
            <a:avLst/>
          </a:prstGeom>
          <a:solidFill>
            <a:srgbClr val="18BFBF"/>
          </a:solidFill>
          <a:ln/>
        </p:spPr>
      </p:sp>
      <p:sp>
        <p:nvSpPr>
          <p:cNvPr id="22" name="Text 20"/>
          <p:cNvSpPr/>
          <p:nvPr/>
        </p:nvSpPr>
        <p:spPr>
          <a:xfrm>
            <a:off x="381168" y="4206240"/>
            <a:ext cx="6782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box (back cover) is a placeholder group: drop a real QR image over the inner square, keep the frame.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98288" y="4727448"/>
            <a:ext cx="73152" cy="73152"/>
          </a:xfrm>
          <a:prstGeom prst="ellipse">
            <a:avLst/>
          </a:prstGeom>
          <a:solidFill>
            <a:srgbClr val="18BFBF"/>
          </a:solidFill>
          <a:ln/>
        </p:spPr>
      </p:sp>
      <p:sp>
        <p:nvSpPr>
          <p:cNvPr id="24" name="Text 22"/>
          <p:cNvSpPr/>
          <p:nvPr/>
        </p:nvSpPr>
        <p:spPr>
          <a:xfrm>
            <a:off x="381168" y="4663440"/>
            <a:ext cx="6782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lines (WhatsApp / Email) are placeholders — replace with real numbers and address.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98288" y="4983480"/>
            <a:ext cx="73152" cy="73152"/>
          </a:xfrm>
          <a:prstGeom prst="ellipse">
            <a:avLst/>
          </a:prstGeom>
          <a:solidFill>
            <a:srgbClr val="18BFBF"/>
          </a:solidFill>
          <a:ln/>
        </p:spPr>
      </p:sp>
      <p:sp>
        <p:nvSpPr>
          <p:cNvPr id="26" name="Text 24"/>
          <p:cNvSpPr/>
          <p:nvPr/>
        </p:nvSpPr>
        <p:spPr>
          <a:xfrm>
            <a:off x="381168" y="4919472"/>
            <a:ext cx="6782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&amp; pathway cards are shape + text groups: duplicate a card to add one, or replace the plus icon with an official hospital logo (keep the navy circle or remove it).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98288" y="5440680"/>
            <a:ext cx="73152" cy="73152"/>
          </a:xfrm>
          <a:prstGeom prst="ellipse">
            <a:avLst/>
          </a:prstGeom>
          <a:solidFill>
            <a:srgbClr val="18BFBF"/>
          </a:solidFill>
          <a:ln/>
        </p:spPr>
      </p:sp>
      <p:sp>
        <p:nvSpPr>
          <p:cNvPr id="28" name="Text 26"/>
          <p:cNvSpPr/>
          <p:nvPr/>
        </p:nvSpPr>
        <p:spPr>
          <a:xfrm>
            <a:off x="381168" y="5376672"/>
            <a:ext cx="6782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blocks are shapes and dividers are line objects — recolor via Shape Fill / Line Color.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98288" y="5696712"/>
            <a:ext cx="73152" cy="73152"/>
          </a:xfrm>
          <a:prstGeom prst="ellipse">
            <a:avLst/>
          </a:prstGeom>
          <a:solidFill>
            <a:srgbClr val="18BFBF"/>
          </a:solidFill>
          <a:ln/>
        </p:spPr>
      </p:sp>
      <p:sp>
        <p:nvSpPr>
          <p:cNvPr id="30" name="Text 28"/>
          <p:cNvSpPr/>
          <p:nvPr/>
        </p:nvSpPr>
        <p:spPr>
          <a:xfrm>
            <a:off x="381168" y="5632704"/>
            <a:ext cx="6782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Layout: 200 x 210 mm finished, two 100 x 210 mm panels, 2 mm bleed all sides, 3 mm safety inside trim. Dashed centre line = fold; keep key text and logo inside the safe area.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98288" y="6153912"/>
            <a:ext cx="73152" cy="73152"/>
          </a:xfrm>
          <a:prstGeom prst="ellipse">
            <a:avLst/>
          </a:prstGeom>
          <a:solidFill>
            <a:srgbClr val="18BFBF"/>
          </a:solidFill>
          <a:ln/>
        </p:spPr>
      </p:sp>
      <p:sp>
        <p:nvSpPr>
          <p:cNvPr id="32" name="Text 30"/>
          <p:cNvSpPr/>
          <p:nvPr/>
        </p:nvSpPr>
        <p:spPr>
          <a:xfrm>
            <a:off x="381168" y="6089904"/>
            <a:ext cx="6782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= outside (left = back cover / p4, right = front cover / p1). Slide 2 = inside (left = p2 hospitals, right = p3 pathways).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98288" y="6611112"/>
            <a:ext cx="73152" cy="73152"/>
          </a:xfrm>
          <a:prstGeom prst="ellipse">
            <a:avLst/>
          </a:prstGeom>
          <a:solidFill>
            <a:srgbClr val="18BFBF"/>
          </a:solidFill>
          <a:ln/>
        </p:spPr>
      </p:sp>
      <p:sp>
        <p:nvSpPr>
          <p:cNvPr id="34" name="Text 32"/>
          <p:cNvSpPr/>
          <p:nvPr/>
        </p:nvSpPr>
        <p:spPr>
          <a:xfrm>
            <a:off x="381168" y="6547104"/>
            <a:ext cx="6782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boxes are left intentionally roomy so Korean / Chinese translations can replace English without reflowing the layout.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Kordy 2-Panel Brochure</dc:title>
  <dc:subject>PptxGenJS Presentation</dc:subject>
  <dc:creator>DYPHI / Kordy</dc:creator>
  <cp:lastModifiedBy>DYPHI / Kordy</cp:lastModifiedBy>
  <cp:revision>1</cp:revision>
  <dcterms:created xsi:type="dcterms:W3CDTF">2026-08-04T23:56:24Z</dcterms:created>
  <dcterms:modified xsi:type="dcterms:W3CDTF">2026-08-04T23:56:24Z</dcterms:modified>
</cp:coreProperties>
</file>